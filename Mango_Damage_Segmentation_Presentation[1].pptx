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85" r:id="rId4"/>
    <p:sldId id="259" r:id="rId5"/>
    <p:sldId id="274" r:id="rId6"/>
    <p:sldId id="275" r:id="rId7"/>
    <p:sldId id="277" r:id="rId8"/>
    <p:sldId id="278" r:id="rId9"/>
    <p:sldId id="279" r:id="rId10"/>
    <p:sldId id="262" r:id="rId11"/>
    <p:sldId id="280" r:id="rId12"/>
    <p:sldId id="284" r:id="rId13"/>
    <p:sldId id="282" r:id="rId14"/>
    <p:sldId id="283" r:id="rId15"/>
    <p:sldId id="271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6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8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7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81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2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0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61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0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98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2231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66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5968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645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6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7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73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12573"/>
            <a:ext cx="8229600" cy="924339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MANGO DAMAGE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72409"/>
            <a:ext cx="8229600" cy="325375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BY </a:t>
            </a:r>
          </a:p>
          <a:p>
            <a:pPr marL="0" indent="0" algn="ctr">
              <a:buNone/>
            </a:pPr>
            <a:r>
              <a:rPr lang="it-IT" sz="3600" dirty="0"/>
              <a:t>PATRICIA ANKUNDA      2301600103</a:t>
            </a:r>
          </a:p>
          <a:p>
            <a:pPr marL="0" indent="0" algn="ctr">
              <a:buNone/>
            </a:pPr>
            <a:r>
              <a:rPr lang="it-IT" sz="3600" dirty="0"/>
              <a:t>DESIRE KAWALA         230160079</a:t>
            </a:r>
          </a:p>
          <a:p>
            <a:pPr marL="0" indent="0" algn="ctr">
              <a:buNone/>
            </a:pPr>
            <a:r>
              <a:rPr lang="it-IT" sz="3600" dirty="0"/>
              <a:t>AISHA BABIRYE          2301600101</a:t>
            </a:r>
          </a:p>
          <a:p>
            <a:pPr marL="0" indent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3280"/>
            <a:ext cx="8229600" cy="5282883"/>
          </a:xfrm>
        </p:spPr>
        <p:txBody>
          <a:bodyPr>
            <a:normAutofit/>
          </a:bodyPr>
          <a:lstStyle/>
          <a:p>
            <a:endParaRPr sz="3200" dirty="0"/>
          </a:p>
          <a:p>
            <a:r>
              <a:rPr sz="3200" dirty="0"/>
              <a:t>Mangoes are widely consumed but highly vulnerable to diseases.</a:t>
            </a:r>
          </a:p>
          <a:p>
            <a:r>
              <a:rPr sz="3200" dirty="0"/>
              <a:t>Manual inspection is slow, subjective, and error-prone.</a:t>
            </a:r>
          </a:p>
          <a:p>
            <a:r>
              <a:rPr sz="3200" dirty="0"/>
              <a:t>Goal: Detect and segment diseased regions using deep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66FA622-837A-AF0D-E243-E4202B6D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82D685-29BB-005B-C249-AFF912928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65200"/>
            <a:ext cx="5384800" cy="5160963"/>
          </a:xfrm>
        </p:spPr>
        <p:txBody>
          <a:bodyPr/>
          <a:lstStyle/>
          <a:p>
            <a:endParaRPr lang="en-US" dirty="0"/>
          </a:p>
          <a:p>
            <a:r>
              <a:rPr lang="en-US" sz="3600" dirty="0"/>
              <a:t>500 images of diseased mangoes collected using Android phones.</a:t>
            </a:r>
          </a:p>
          <a:p>
            <a:r>
              <a:rPr lang="en-US" sz="3600" dirty="0"/>
              <a:t>Captured under natural lighting at different orientations.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4" descr="extracted_img_0_1.png">
            <a:extLst>
              <a:ext uri="{FF2B5EF4-FFF2-40B4-BE49-F238E27FC236}">
                <a16:creationId xmlns:a16="http://schemas.microsoft.com/office/drawing/2014/main" xmlns="" id="{6CA35D3B-CE4A-D53B-FD0A-51A94FC5CD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75" y="2605356"/>
            <a:ext cx="3197225" cy="282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2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643"/>
            <a:ext cx="8229600" cy="5251520"/>
          </a:xfrm>
        </p:spPr>
        <p:txBody>
          <a:bodyPr>
            <a:normAutofit/>
          </a:bodyPr>
          <a:lstStyle/>
          <a:p>
            <a:endParaRPr sz="2800" dirty="0"/>
          </a:p>
          <a:p>
            <a:r>
              <a:rPr sz="2800" dirty="0"/>
              <a:t>Background removal and resizing.</a:t>
            </a:r>
          </a:p>
          <a:p>
            <a:r>
              <a:rPr sz="2800" dirty="0"/>
              <a:t>Eliminated corrupt</a:t>
            </a:r>
            <a:r>
              <a:rPr lang="en-US" sz="2800" dirty="0"/>
              <a:t> and </a:t>
            </a:r>
            <a:r>
              <a:rPr sz="2800" dirty="0"/>
              <a:t>duplicate images.</a:t>
            </a:r>
          </a:p>
          <a:p>
            <a:r>
              <a:rPr sz="2800" dirty="0"/>
              <a:t>Applied augmentation: </a:t>
            </a:r>
            <a:r>
              <a:rPr lang="en-US" sz="2800" dirty="0" err="1"/>
              <a:t>Brighteness</a:t>
            </a:r>
            <a:r>
              <a:rPr lang="en-US" sz="2800" dirty="0"/>
              <a:t> adjustment</a:t>
            </a:r>
            <a:r>
              <a:rPr sz="2800" dirty="0"/>
              <a:t>, rotation</a:t>
            </a:r>
            <a:r>
              <a:rPr lang="en-US" sz="2800" dirty="0"/>
              <a:t> and</a:t>
            </a:r>
            <a:r>
              <a:rPr sz="2800" dirty="0"/>
              <a:t> flipping.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 descr="extracted_img_1_1.png">
            <a:extLst>
              <a:ext uri="{FF2B5EF4-FFF2-40B4-BE49-F238E27FC236}">
                <a16:creationId xmlns:a16="http://schemas.microsoft.com/office/drawing/2014/main" xmlns="" id="{A82BAE11-BD59-B113-62D2-03123FC63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3789680"/>
            <a:ext cx="6339840" cy="1737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CE0658-D064-B9DB-736C-28DE2A638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Segmentation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8F939A1-1529-99D9-E612-0B2F0E08F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• Ground truth masks were generated using unsupervised methods.</a:t>
            </a:r>
          </a:p>
          <a:p>
            <a:pPr marL="0" indent="0">
              <a:buNone/>
            </a:pPr>
            <a:r>
              <a:rPr lang="en-US" sz="3200" dirty="0"/>
              <a:t>• Compared HSV clustering and grayscale clustering.</a:t>
            </a:r>
          </a:p>
          <a:p>
            <a:pPr marL="0" indent="0">
              <a:buNone/>
            </a:pPr>
            <a:r>
              <a:rPr lang="en-US" sz="3200" dirty="0"/>
              <a:t>• Goal: Identify the best approach for accurate mask generation.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7961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415DB7-46DD-19AD-5729-659E3B0A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1" y="218662"/>
            <a:ext cx="7620000" cy="954156"/>
          </a:xfrm>
        </p:spPr>
        <p:txBody>
          <a:bodyPr/>
          <a:lstStyle/>
          <a:p>
            <a:r>
              <a:rPr lang="en-US" dirty="0"/>
              <a:t>HSV vs Grayscale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3BC83C-C76A-D512-FF73-368009D9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4217"/>
            <a:ext cx="8229600" cy="55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HSV Clustering</a:t>
            </a:r>
          </a:p>
          <a:p>
            <a:pPr marL="0" indent="0">
              <a:buNone/>
            </a:pPr>
            <a:r>
              <a:rPr lang="en-US" sz="2400" dirty="0"/>
              <a:t>• Detects dark/discolored regions well.</a:t>
            </a:r>
          </a:p>
          <a:p>
            <a:pPr marL="0" indent="0">
              <a:buNone/>
            </a:pPr>
            <a:r>
              <a:rPr lang="en-US" sz="2400" dirty="0"/>
              <a:t>• Highly sensitive to color differences.</a:t>
            </a:r>
          </a:p>
          <a:p>
            <a:pPr marL="0" indent="0">
              <a:buNone/>
            </a:pPr>
            <a:r>
              <a:rPr lang="en-US" sz="2400" dirty="0"/>
              <a:t>• High variance in damage detection.</a:t>
            </a:r>
          </a:p>
          <a:p>
            <a:pPr marL="0" indent="0">
              <a:buNone/>
            </a:pPr>
            <a:r>
              <a:rPr lang="en-US" sz="2400" b="1" dirty="0"/>
              <a:t>Grayscale Clustering</a:t>
            </a:r>
          </a:p>
          <a:p>
            <a:pPr marL="0" indent="0">
              <a:buNone/>
            </a:pPr>
            <a:r>
              <a:rPr lang="en-US" sz="2400" dirty="0"/>
              <a:t>• More stable and consistent.</a:t>
            </a:r>
          </a:p>
          <a:p>
            <a:pPr marL="0" indent="0">
              <a:buNone/>
            </a:pPr>
            <a:r>
              <a:rPr lang="en-US" sz="2400" dirty="0"/>
              <a:t>• Less color-sensitive.</a:t>
            </a:r>
          </a:p>
          <a:p>
            <a:pPr marL="0" indent="0">
              <a:buNone/>
            </a:pPr>
            <a:r>
              <a:rPr lang="en-US" sz="2400" dirty="0"/>
              <a:t>• Produced cleaner masks overall.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 descr="extracted_img_1_2.png">
            <a:extLst>
              <a:ext uri="{FF2B5EF4-FFF2-40B4-BE49-F238E27FC236}">
                <a16:creationId xmlns:a16="http://schemas.microsoft.com/office/drawing/2014/main" xmlns="" id="{D5495A3D-621F-4E34-B5DE-B836B4320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18" y="4860234"/>
            <a:ext cx="5486400" cy="1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48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A41FFC-3EAA-D525-9ABC-F5D5259AE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82404D-429B-30BD-42CF-EE6FDAB6E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72208"/>
            <a:ext cx="8557591" cy="55857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• The evaluation showed grayscale clustering performed best.</a:t>
            </a:r>
          </a:p>
          <a:p>
            <a:pPr marL="0" indent="0">
              <a:buNone/>
            </a:pPr>
            <a:r>
              <a:rPr lang="en-US" sz="2800" dirty="0"/>
              <a:t>• HSV was too sensitive and inconsistent for mask generation.</a:t>
            </a:r>
          </a:p>
          <a:p>
            <a:pPr marL="0" indent="0">
              <a:buNone/>
            </a:pPr>
            <a:r>
              <a:rPr lang="en-US" sz="2800" dirty="0"/>
              <a:t>• Final decision: Used grayscale masks for training.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4" name="Picture 3" descr="extracted_img_2_1.png">
            <a:extLst>
              <a:ext uri="{FF2B5EF4-FFF2-40B4-BE49-F238E27FC236}">
                <a16:creationId xmlns:a16="http://schemas.microsoft.com/office/drawing/2014/main" xmlns="" id="{771B2C1E-A646-8593-8CA6-35EEDA3FD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903" y="4253555"/>
            <a:ext cx="6052932" cy="198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99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18ED8E-836E-F079-E0A6-E31F357F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Grayscale Masks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858871-D208-34EC-4090-9CD3872C7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71600"/>
            <a:ext cx="4879975" cy="4754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• Used K-means clustering with k = 4.</a:t>
            </a:r>
          </a:p>
          <a:p>
            <a:pPr marL="0" indent="0">
              <a:buNone/>
            </a:pPr>
            <a:r>
              <a:rPr lang="en-US" sz="2400" dirty="0"/>
              <a:t>• Pixels grouped into 4 intensity levels.</a:t>
            </a:r>
          </a:p>
          <a:p>
            <a:pPr marL="0" indent="0">
              <a:buNone/>
            </a:pPr>
            <a:r>
              <a:rPr lang="en-US" sz="2400" dirty="0"/>
              <a:t>• Darkest cluster selected as damaged region.</a:t>
            </a:r>
          </a:p>
          <a:p>
            <a:pPr marL="0" indent="0">
              <a:buNone/>
            </a:pPr>
            <a:r>
              <a:rPr lang="en-US" sz="2400" dirty="0"/>
              <a:t>• Final output</a:t>
            </a:r>
          </a:p>
          <a:p>
            <a:pPr marL="0" indent="0">
              <a:buNone/>
            </a:pPr>
            <a:r>
              <a:rPr lang="en-US" sz="2400" dirty="0"/>
              <a:t>Binary mask (255 = damaged, 0 = healthy)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5" name="Content Placeholder 4" descr="extracted_img_2_5.png">
            <a:extLst>
              <a:ext uri="{FF2B5EF4-FFF2-40B4-BE49-F238E27FC236}">
                <a16:creationId xmlns:a16="http://schemas.microsoft.com/office/drawing/2014/main" xmlns="" id="{63D80B47-53F1-8810-443F-F4A5968DD9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7175" y="2405841"/>
            <a:ext cx="3197225" cy="322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6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6FF930-ADF6-C0A7-2C63-EF8A06EB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Training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34CA25-2AE1-4AE6-5262-0A78C5D49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3440"/>
            <a:ext cx="8229600" cy="5272723"/>
          </a:xfrm>
        </p:spPr>
        <p:txBody>
          <a:bodyPr>
            <a:normAutofit fontScale="92500"/>
          </a:bodyPr>
          <a:lstStyle/>
          <a:p>
            <a:endParaRPr lang="en-US" sz="4000" dirty="0"/>
          </a:p>
          <a:p>
            <a:pPr marL="0" indent="0">
              <a:buNone/>
            </a:pPr>
            <a:r>
              <a:rPr lang="en-US" sz="4000" dirty="0"/>
              <a:t>• Models used: U-Net and DeepLabV3.</a:t>
            </a:r>
          </a:p>
          <a:p>
            <a:pPr marL="0" indent="0">
              <a:buNone/>
            </a:pPr>
            <a:r>
              <a:rPr lang="en-US" sz="4000" dirty="0"/>
              <a:t>• Dataset: 500 images + 500 masks.</a:t>
            </a:r>
          </a:p>
          <a:p>
            <a:pPr marL="0" indent="0">
              <a:buNone/>
            </a:pPr>
            <a:r>
              <a:rPr lang="en-US" sz="4000" dirty="0"/>
              <a:t>• Train/Validation split: 80% / 20%.</a:t>
            </a:r>
          </a:p>
          <a:p>
            <a:pPr marL="0" indent="0">
              <a:buNone/>
            </a:pPr>
            <a:r>
              <a:rPr lang="en-US" sz="4000" dirty="0"/>
              <a:t>• Images resized and normalized before training.</a:t>
            </a: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6880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Used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8080"/>
            <a:ext cx="8229600" cy="4978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U-Net Training</a:t>
            </a:r>
            <a:endParaRPr sz="2800" b="1" dirty="0"/>
          </a:p>
          <a:p>
            <a:r>
              <a:rPr sz="2800" dirty="0"/>
              <a:t>Input size: 224x224.</a:t>
            </a:r>
          </a:p>
          <a:p>
            <a:r>
              <a:rPr sz="2800" dirty="0"/>
              <a:t>Optimizer: Adam </a:t>
            </a:r>
            <a:r>
              <a:rPr lang="en-US" sz="2800" dirty="0"/>
              <a:t>optimizer</a:t>
            </a:r>
            <a:endParaRPr sz="2800" dirty="0"/>
          </a:p>
          <a:p>
            <a:r>
              <a:rPr sz="2800" dirty="0"/>
              <a:t>Trained for 5 epochs</a:t>
            </a:r>
            <a:r>
              <a:rPr lang="en-US" sz="2800" dirty="0"/>
              <a:t>, batch size 8</a:t>
            </a:r>
            <a:r>
              <a:rPr sz="2800" dirty="0"/>
              <a:t>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DeepLabV3 Training</a:t>
            </a:r>
          </a:p>
          <a:p>
            <a:r>
              <a:rPr lang="en-US" sz="2800" dirty="0"/>
              <a:t>Backbone: ResNet50.</a:t>
            </a:r>
          </a:p>
          <a:p>
            <a:r>
              <a:rPr lang="en-US" sz="2800" dirty="0"/>
              <a:t>Optimizer: Adam optimizer (0.001).</a:t>
            </a:r>
          </a:p>
          <a:p>
            <a:r>
              <a:rPr lang="en-US" sz="2800" dirty="0"/>
              <a:t>Trained for 5 epochs.</a:t>
            </a:r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DF1094-B172-9E24-CC85-E25680D2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Result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B4D3D081-2C0C-6A10-2CF6-E85A8D5800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160" y="1127760"/>
            <a:ext cx="7447280" cy="443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392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CD79E6-B8E7-51F5-3E3E-00182F29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14" y="624110"/>
            <a:ext cx="7540486" cy="1280890"/>
          </a:xfrm>
        </p:spPr>
        <p:txBody>
          <a:bodyPr/>
          <a:lstStyle/>
          <a:p>
            <a:r>
              <a:rPr lang="en-US" dirty="0"/>
              <a:t>Segmentation visualization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7F1E3B-F0C7-2B4D-7F77-0A8E71009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1722" y="1739348"/>
            <a:ext cx="3788226" cy="484050"/>
          </a:xfrm>
        </p:spPr>
        <p:txBody>
          <a:bodyPr/>
          <a:lstStyle/>
          <a:p>
            <a:r>
              <a:rPr lang="en-US" dirty="0"/>
              <a:t>Results: U-Net</a:t>
            </a:r>
          </a:p>
        </p:txBody>
      </p:sp>
      <p:pic>
        <p:nvPicPr>
          <p:cNvPr id="7" name="Content Placeholder 6" descr="extracted_img_4_3.png">
            <a:extLst>
              <a:ext uri="{FF2B5EF4-FFF2-40B4-BE49-F238E27FC236}">
                <a16:creationId xmlns:a16="http://schemas.microsoft.com/office/drawing/2014/main" xmlns="" id="{F09A64DF-C74D-E0C4-3EF9-6AB19FE356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93914" y="2425148"/>
            <a:ext cx="3788226" cy="3180522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8FFF3475-C11A-85ED-A6F9-321AF3AEB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27984" y="1739348"/>
            <a:ext cx="3301410" cy="484050"/>
          </a:xfrm>
        </p:spPr>
        <p:txBody>
          <a:bodyPr/>
          <a:lstStyle/>
          <a:p>
            <a:r>
              <a:rPr lang="en-US" dirty="0"/>
              <a:t>Results: DeepLabV3</a:t>
            </a:r>
          </a:p>
        </p:txBody>
      </p:sp>
      <p:pic>
        <p:nvPicPr>
          <p:cNvPr id="8" name="Content Placeholder 7" descr="extracted_img_5_1.png">
            <a:extLst>
              <a:ext uri="{FF2B5EF4-FFF2-40B4-BE49-F238E27FC236}">
                <a16:creationId xmlns:a16="http://schemas.microsoft.com/office/drawing/2014/main" xmlns="" id="{33DA051F-7247-FB6D-4210-ACDE1C28E37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890052" y="2425148"/>
            <a:ext cx="3639586" cy="31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3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BEA205-89BC-33FE-AC1F-69C13CA53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3602"/>
          </a:xfrm>
        </p:spPr>
        <p:txBody>
          <a:bodyPr/>
          <a:lstStyle/>
          <a:p>
            <a:r>
              <a:rPr lang="en-US" dirty="0"/>
              <a:t>U-Net Visual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6CA566D-3AC9-62DE-34EE-8B5359D5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75772"/>
            <a:ext cx="8229600" cy="5050392"/>
          </a:xfrm>
        </p:spPr>
        <p:txBody>
          <a:bodyPr>
            <a:normAutofit/>
          </a:bodyPr>
          <a:lstStyle/>
          <a:p>
            <a:r>
              <a:rPr lang="en-US" sz="2400" dirty="0"/>
              <a:t>Good overlap between prediction and ground truth.</a:t>
            </a:r>
          </a:p>
          <a:p>
            <a:pPr marL="0" indent="0">
              <a:buNone/>
            </a:pPr>
            <a:r>
              <a:rPr lang="en-US" sz="2400" dirty="0"/>
              <a:t>• Well-defined lesion boundaries.</a:t>
            </a:r>
          </a:p>
          <a:p>
            <a:pPr marL="0" indent="0">
              <a:buNone/>
            </a:pPr>
            <a:r>
              <a:rPr lang="en-US" sz="2400" dirty="0"/>
              <a:t>• Minimal overfitting observed.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D8EF30AC-D083-463B-159D-32E3FE454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31435"/>
            <a:ext cx="7660640" cy="31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64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76BFE8-F281-C9B7-A110-5F9AB85A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DeepLabV3 Visual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096DBB7-93B0-E32B-6E2A-E9D5A5BE6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321904"/>
            <a:ext cx="8077200" cy="19580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/>
              <a:t>• Training and validation loss decrease with slight fluctuations.</a:t>
            </a:r>
          </a:p>
          <a:p>
            <a:pPr marL="0" indent="0">
              <a:buNone/>
            </a:pPr>
            <a:r>
              <a:rPr lang="en-US" sz="2400" dirty="0"/>
              <a:t>• Validation </a:t>
            </a:r>
            <a:r>
              <a:rPr lang="en-US" sz="2400" dirty="0" err="1"/>
              <a:t>IoU</a:t>
            </a:r>
            <a:r>
              <a:rPr lang="en-US" sz="2400" dirty="0"/>
              <a:t> peaks at Epochs 2 and 5 (~0.70).</a:t>
            </a:r>
          </a:p>
          <a:p>
            <a:r>
              <a:rPr lang="en-US" sz="2400" dirty="0"/>
              <a:t>• Indicates strong generalization and stable training behavior.</a:t>
            </a:r>
          </a:p>
          <a:p>
            <a:r>
              <a:rPr lang="en-US" sz="2400" dirty="0"/>
              <a:t>• DeepLabV3 maintains consistent segmentation performance across epochs.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11E84E4-A0A5-29F4-C484-9F3BFA4F9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8757920" cy="273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47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55F166-0C5E-8184-CC1E-4282B68EB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Receiver Operating Characteristic</a:t>
            </a:r>
            <a:br>
              <a:rPr lang="en-US" dirty="0"/>
            </a:br>
            <a:r>
              <a:rPr lang="en-US" dirty="0"/>
              <a:t>AUC: 0.9886</a:t>
            </a:r>
            <a:br>
              <a:rPr lang="en-US" dirty="0"/>
            </a:br>
            <a:endParaRPr lang="en-US" dirty="0"/>
          </a:p>
        </p:txBody>
      </p:sp>
      <p:pic>
        <p:nvPicPr>
          <p:cNvPr id="4" name="Content Placeholder 3" descr="extracted_img_5_2.png">
            <a:extLst>
              <a:ext uri="{FF2B5EF4-FFF2-40B4-BE49-F238E27FC236}">
                <a16:creationId xmlns:a16="http://schemas.microsoft.com/office/drawing/2014/main" xmlns="" id="{3F504CD9-F8D4-4868-9AFA-E2CF43486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3450" y="1696720"/>
            <a:ext cx="6013580" cy="471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471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39682"/>
          </a:xfrm>
        </p:spPr>
        <p:txBody>
          <a:bodyPr/>
          <a:lstStyle/>
          <a:p>
            <a:r>
              <a:rPr dirty="0"/>
              <a:t>Model Comparison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1C09EDE-9C81-377D-AC17-95C662549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60015"/>
            <a:ext cx="8309113" cy="418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DeepLabV3 showed more stable and consistent convergence than U-Net.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Training and validation losses decreased smoothly,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indicating reliable learning.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DeepLabV3 produced higher-quality mask predictions (better Dice and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IoU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U-Net showed a small train–validation gap, but its validation curve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fluctuated more, indicating less stable performance.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3280"/>
            <a:ext cx="8229600" cy="52828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4000" dirty="0"/>
          </a:p>
          <a:p>
            <a:r>
              <a:rPr sz="4000" dirty="0"/>
              <a:t>Limited RAM reduced dataset size and epochs.</a:t>
            </a:r>
          </a:p>
          <a:p>
            <a:r>
              <a:rPr sz="4000" dirty="0"/>
              <a:t>Inconsistent natural lighting conditions.</a:t>
            </a:r>
          </a:p>
          <a:p>
            <a:r>
              <a:rPr sz="4000" dirty="0"/>
              <a:t>Potential underfitting due to few epochs.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28320"/>
            <a:ext cx="8229600" cy="5597843"/>
          </a:xfrm>
        </p:spPr>
        <p:txBody>
          <a:bodyPr>
            <a:normAutofit/>
          </a:bodyPr>
          <a:lstStyle/>
          <a:p>
            <a:endParaRPr sz="3600" dirty="0"/>
          </a:p>
          <a:p>
            <a:r>
              <a:rPr sz="3600" dirty="0"/>
              <a:t>Increase dataset size and diversity.</a:t>
            </a:r>
          </a:p>
          <a:p>
            <a:r>
              <a:rPr sz="3600" dirty="0"/>
              <a:t>More extensive hyperparameter tuning.</a:t>
            </a:r>
          </a:p>
          <a:p>
            <a:r>
              <a:rPr sz="3600" dirty="0"/>
              <a:t>Train for more epochs.</a:t>
            </a:r>
          </a:p>
          <a:p>
            <a:r>
              <a:rPr sz="3600" dirty="0"/>
              <a:t>Deploy to mobile platforms.</a:t>
            </a:r>
          </a:p>
          <a:p>
            <a:r>
              <a:rPr sz="3600" dirty="0"/>
              <a:t>Extend approach to other fruits.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3120"/>
            <a:ext cx="8229600" cy="5293043"/>
          </a:xfrm>
        </p:spPr>
        <p:txBody>
          <a:bodyPr>
            <a:normAutofit fontScale="92500"/>
          </a:bodyPr>
          <a:lstStyle/>
          <a:p>
            <a:endParaRPr sz="4000" dirty="0"/>
          </a:p>
          <a:p>
            <a:r>
              <a:rPr sz="4000" dirty="0"/>
              <a:t>Deep learning enables accurate segmentation of mango disease.</a:t>
            </a:r>
          </a:p>
          <a:p>
            <a:r>
              <a:rPr sz="4000" dirty="0"/>
              <a:t>DeepLabV3 outperformed U-Net overall.</a:t>
            </a:r>
          </a:p>
          <a:p>
            <a:r>
              <a:rPr sz="4000" dirty="0"/>
              <a:t>The system is a strong foundation for real-world agricultural AI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187</TotalTime>
  <Words>522</Words>
  <Application>Microsoft Office PowerPoint</Application>
  <PresentationFormat>On-screen Show (4:3)</PresentationFormat>
  <Paragraphs>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Century Gothic</vt:lpstr>
      <vt:lpstr>Wingdings 3</vt:lpstr>
      <vt:lpstr>Wisp</vt:lpstr>
      <vt:lpstr>MANGO DAMAGE SEGMENTATION</vt:lpstr>
      <vt:lpstr>Introduction</vt:lpstr>
      <vt:lpstr>Dataset Description</vt:lpstr>
      <vt:lpstr>Preprocessing</vt:lpstr>
      <vt:lpstr>Creating Segmentation Masks</vt:lpstr>
      <vt:lpstr>HSV vs Grayscale Segmentation</vt:lpstr>
      <vt:lpstr>Evaluation Outcome</vt:lpstr>
      <vt:lpstr>Creating Grayscale Masks</vt:lpstr>
      <vt:lpstr>Model Training Overview</vt:lpstr>
      <vt:lpstr>Models Used</vt:lpstr>
      <vt:lpstr>Model Result Comparison</vt:lpstr>
      <vt:lpstr>Segmentation visualization results</vt:lpstr>
      <vt:lpstr>U-Net Visual Results</vt:lpstr>
      <vt:lpstr>DeepLabV3 Visual Results</vt:lpstr>
      <vt:lpstr> Receiver Operating Characteristic AUC: 0.9886 </vt:lpstr>
      <vt:lpstr>Model Comparison</vt:lpstr>
      <vt:lpstr>Limitations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MANGO DAMAGE SEGMENTATION</dc:title>
  <dc:subject/>
  <dc:creator>KAWALA DESIRE</dc:creator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2025-11-25T06:32:06Z</dcterms:modified>
  <cp:category/>
</cp:coreProperties>
</file>